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e61b804-bab9-e0b0-5d71-4546eadc1038}">
          <p14:sldIdLst>
            <p14:sldId id="256"/>
          </p14:sldIdLst>
        </p14:section>
        <p14:section name="Context" id="{374d7b36-1f30-f3b9-77b9-231ac40b4da3}">
          <p14:sldIdLst>
            <p14:sldId id="257"/>
            <p14:sldId id="258"/>
            <p14:sldId id="259"/>
          </p14:sldIdLst>
        </p14:section>
        <p14:section name="Method" id="{e91a4303-3cc1-5eb9-ce4b-edc49c156050}">
          <p14:sldIdLst>
            <p14:sldId id="260"/>
            <p14:sldId id="261"/>
          </p14:sldIdLst>
        </p14:section>
        <p14:section name="Results" id="{2a31ed39-1105-504a-48a8-a41846f9dd4d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onclusions" id="{6205653a-619d-1d04-7c0a-d14308244037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+mn-lt"/>
              </a:rPr>
              <a:t>Rides by weekday (from timestamps)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13</c:v>
                </c:pt>
                <c:pt idx="6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+mn-lt"/>
              </a:rPr>
              <a:t>Revenue by vehicle type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Bus</c:v>
                  </c:pt>
                  <c:pt idx="1">
                    <c:v>Sedan</c:v>
                  </c:pt>
                  <c:pt idx="2">
                    <c:v>SUV</c:v>
                  </c:pt>
                  <c:pt idx="3">
                    <c:v>Motorcycle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9756.79</c:v>
                </c:pt>
                <c:pt idx="1">
                  <c:v>9631.78</c:v>
                </c:pt>
                <c:pt idx="2">
                  <c:v>7049.18</c:v>
                </c:pt>
                <c:pt idx="3">
                  <c:v>5351.22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+mn-lt"/>
              </a:rPr>
              <a:t>Revenue by payment method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Visa</c:v>
                  </c:pt>
                  <c:pt idx="1">
                    <c:v>Debit</c:v>
                  </c:pt>
                  <c:pt idx="2">
                    <c:v>Apple Pay</c:v>
                  </c:pt>
                  <c:pt idx="3">
                    <c:v>Cash</c:v>
                  </c:pt>
                  <c:pt idx="4">
                    <c:v>PayPal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9297.3</c:v>
                </c:pt>
                <c:pt idx="1">
                  <c:v>7986.17</c:v>
                </c:pt>
                <c:pt idx="2">
                  <c:v>5330.14</c:v>
                </c:pt>
                <c:pt idx="3">
                  <c:v>5146.41</c:v>
                </c:pt>
                <c:pt idx="4">
                  <c:v>4028.95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+mn-lt"/>
              </a:rPr>
              <a:t>Rides by rating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E09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star</c:v>
                  </c:pt>
                  <c:pt idx="1">
                    <c:v>2 stars</c:v>
                  </c:pt>
                  <c:pt idx="2">
                    <c:v>3 stars</c:v>
                  </c:pt>
                  <c:pt idx="3">
                    <c:v>4 stars</c:v>
                  </c:pt>
                  <c:pt idx="4">
                    <c:v>5 stars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10</c:v>
                </c:pt>
                <c:pt idx="2">
                  <c:v>8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+mn-lt"/>
              </a:rPr>
              <a:t>Share of rides rated 1-2 stars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Overall</c:v>
                  </c:pt>
                  <c:pt idx="1">
                    <c:v>High traffic</c:v>
                  </c:pt>
                  <c:pt idx="2">
                    <c:v>Morning 06-11</c:v>
                  </c:pt>
                  <c:pt idx="3">
                    <c:v>Sedan</c:v>
                  </c:pt>
                  <c:pt idx="4">
                    <c:v>Sunday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61.5</c:v>
                </c:pt>
                <c:pt idx="2">
                  <c:v>53.8</c:v>
                </c:pt>
                <c:pt idx="3">
                  <c:v>52.9</c:v>
                </c:pt>
                <c:pt idx="4">
                  <c:v>88.9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ride-level data turned into a validated dashboard, advanced analysis, scenarios and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six management questions. The goal is evidence-based decision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dataset and the cleaning rules. Stress that status is a proxy because there is no status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audit honestly: two real problems were found and handled, and the rest is documented as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Three-table model, then the five analytical ideas in simple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KPI calculation and the three-way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dashboard here. Demo: Sedan slicer (17 rides, $9,631.78), cross-filter on Visa, driver drill-through, scenario slider.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findings from corrected weekday logic. Read the busiest hour off the dashboard's hour chart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concentrated in a few vehicle types and card payments. PayPal is the lowest earner.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Completion is 100% but satisfaction is weak. Be clear that customer segmentation was not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Low-rated share is the attention signal. Say explicitly that this shows where, not why, and that samples are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baseline, assumption, estimate and difference. Everything here is an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recommendation 1 and 2. Several need extra data, which is itself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limitations plainly; they show the analysis was validated, not forced.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summarise the final product,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Ride Analytics &amp; Revenue Intelligence  |  ZYROO Data Analytics Internship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109728" cy="13716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371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Ride Analytics &amp; Revenue Intelligence Platform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4F2"/>
                </a:solidFill>
              </a:rPr>
              <a:t>Final Business Intelligence Presentation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4F2"/>
                </a:solidFill>
              </a:rPr>
              <a:t>ZYROO Data Analytics Internship  |  Weeks 2-6  |  Power BI, Python, 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business problem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many rides happen and how much revenue do they generate?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When is demand highest?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Which vehicle types and payment methods earn the most?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do drivers compare with a benchmark?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Where does service quality fall short?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 would a fare or volume change do to revenue?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237744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</a:rPr>
              <a:t>Goal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645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not only what happened, but why it matters and what the business should investigate next.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 and preparation</a:t>
            </a:r>
            <a:endParaRPr lang="en-US" sz="2600" dirty="0"/>
          </a:p>
        </p:txBody>
      </p:sp>
      <p:sp>
        <p:nvSpPr>
          <p:cNvPr id="3" name="Card Rides"/>
          <p:cNvSpPr/>
          <p:nvPr/>
        </p:nvSpPr>
        <p:spPr>
          <a:xfrm>
            <a:off x="457200" y="1143000"/>
            <a:ext cx="987552" cy="91440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5272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50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733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Rides</a:t>
            </a:r>
            <a:endParaRPr lang="en-US" sz="1000" dirty="0"/>
          </a:p>
        </p:txBody>
      </p:sp>
      <p:sp>
        <p:nvSpPr>
          <p:cNvPr id="6" name="Card Drivers"/>
          <p:cNvSpPr/>
          <p:nvPr/>
        </p:nvSpPr>
        <p:spPr>
          <a:xfrm>
            <a:off x="1536192" y="1143000"/>
            <a:ext cx="987552" cy="91440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36192" y="125272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50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16733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Drivers</a:t>
            </a:r>
            <a:endParaRPr lang="en-US" sz="1000" dirty="0"/>
          </a:p>
        </p:txBody>
      </p:sp>
      <p:sp>
        <p:nvSpPr>
          <p:cNvPr id="9" name="Card Date range"/>
          <p:cNvSpPr/>
          <p:nvPr/>
        </p:nvSpPr>
        <p:spPr>
          <a:xfrm>
            <a:off x="2615184" y="1143000"/>
            <a:ext cx="987552" cy="91440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15184" y="125272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2022-24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15184" y="16733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Date range</a:t>
            </a:r>
            <a:endParaRPr lang="en-US" sz="1000" dirty="0"/>
          </a:p>
        </p:txBody>
      </p:sp>
      <p:sp>
        <p:nvSpPr>
          <p:cNvPr id="12" name="Card Currency"/>
          <p:cNvSpPr/>
          <p:nvPr/>
        </p:nvSpPr>
        <p:spPr>
          <a:xfrm>
            <a:off x="3694176" y="1143000"/>
            <a:ext cx="987552" cy="91440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94176" y="125272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USD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94176" y="16733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Currency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Source: Ride_Sharing_Dataset.csv (17 columns, one row per ride) plus a driver performance file built from it.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Preparation steps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Removed fully blank rows so counts reflect real rides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Repaired the driver file headers (extra commas had shifted the data)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Derived weekday and hour from Request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Ride status is a proxy: fare &gt; $0 = Completed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rows excluded for invalid values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 quality audit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47472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Missing values, duplicate rows, duplicate Ride / Driver IDs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AF7A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Invalid dates, zero or negative fares, invalid ratings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AF7A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Ride distances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All 50 rides over 500 miles (525 to 12,132)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Flag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Stored Day of Week vs Request Time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Matches on only 18% of rows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902B"/>
                          </a:solidFill>
                        </a:rPr>
                        <a:t>Fixed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Pickup locations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 unique worldwide coordinates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902B"/>
                          </a:solidFill>
                        </a:rPr>
                        <a:t>Limit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Ride status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 status column; proxy from fare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902B"/>
                          </a:solidFill>
                        </a:rPr>
                        <a:t>Limit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Distance-based findings are treated as unreliable; weekday is taken from the timestamp.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 model and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868680"/>
          </a:xfrm>
          <a:prstGeom prst="rect">
            <a:avLst/>
          </a:prstGeom>
          <a:solidFill>
            <a:srgbClr val="F3F6FB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FactRides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Ride-level facts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868680"/>
          </a:xfrm>
          <a:prstGeom prst="rect">
            <a:avLst/>
          </a:prstGeom>
          <a:solidFill>
            <a:srgbClr val="F3F6FB"/>
          </a:solidFill>
          <a:ln w="19050">
            <a:solidFill>
              <a:srgbClr val="6A4F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DimDriver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Driver scores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560320" cy="868680"/>
          </a:xfrm>
          <a:prstGeom prst="rect">
            <a:avLst/>
          </a:prstGeom>
          <a:solidFill>
            <a:srgbClr val="F3F6FB"/>
          </a:solidFill>
          <a:ln w="19050">
            <a:solidFill>
              <a:srgbClr val="1BA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DimDate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Calendar table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One-to-many, single-direction relationships; all measures in one measures table.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146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KPIs built as DAX measures and checked in pandas and SQL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Segments compared on rides, revenue, average fare and rating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Low-rated share (rides rated 1-2) used as the attention signal, since there are no cancellations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Driver score = 30% revenue, 25% volume, 25% rating, 20% completion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Scenarios use revenue = completed rides x average fare (estimates)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Associations are shown, not causes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KPIs and validation</a:t>
            </a:r>
            <a:endParaRPr lang="en-US" sz="2600" dirty="0"/>
          </a:p>
        </p:txBody>
      </p:sp>
      <p:sp>
        <p:nvSpPr>
          <p:cNvPr id="3" name="Card Total rides"/>
          <p:cNvSpPr/>
          <p:nvPr/>
        </p:nvSpPr>
        <p:spPr>
          <a:xfrm>
            <a:off x="457200" y="1143000"/>
            <a:ext cx="128016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52728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50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9870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Total rides</a:t>
            </a:r>
            <a:endParaRPr lang="en-US" sz="1000" dirty="0"/>
          </a:p>
        </p:txBody>
      </p:sp>
      <p:sp>
        <p:nvSpPr>
          <p:cNvPr id="6" name="Card Completed"/>
          <p:cNvSpPr/>
          <p:nvPr/>
        </p:nvSpPr>
        <p:spPr>
          <a:xfrm>
            <a:off x="1847088" y="1143000"/>
            <a:ext cx="128016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47088" y="1252728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50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1699870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Completed</a:t>
            </a:r>
            <a:endParaRPr lang="en-US" sz="1000" dirty="0"/>
          </a:p>
        </p:txBody>
      </p:sp>
      <p:sp>
        <p:nvSpPr>
          <p:cNvPr id="9" name="Card Cancelled"/>
          <p:cNvSpPr/>
          <p:nvPr/>
        </p:nvSpPr>
        <p:spPr>
          <a:xfrm>
            <a:off x="3236976" y="1143000"/>
            <a:ext cx="128016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36976" y="1252728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36976" y="1699870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Cancelled</a:t>
            </a:r>
            <a:endParaRPr lang="en-US" sz="1000" dirty="0"/>
          </a:p>
        </p:txBody>
      </p:sp>
      <p:sp>
        <p:nvSpPr>
          <p:cNvPr id="12" name="Card Revenue"/>
          <p:cNvSpPr/>
          <p:nvPr/>
        </p:nvSpPr>
        <p:spPr>
          <a:xfrm>
            <a:off x="4626864" y="1143000"/>
            <a:ext cx="128016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1252728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$31,788.97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1699870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Revenue</a:t>
            </a:r>
            <a:endParaRPr lang="en-US" sz="1000" dirty="0"/>
          </a:p>
        </p:txBody>
      </p:sp>
      <p:sp>
        <p:nvSpPr>
          <p:cNvPr id="15" name="Card Average fare"/>
          <p:cNvSpPr/>
          <p:nvPr/>
        </p:nvSpPr>
        <p:spPr>
          <a:xfrm>
            <a:off x="6016752" y="1143000"/>
            <a:ext cx="128016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16752" y="1252728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$635.78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16752" y="1699870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Average fare</a:t>
            </a:r>
            <a:endParaRPr lang="en-US" sz="1000" dirty="0"/>
          </a:p>
        </p:txBody>
      </p:sp>
      <p:sp>
        <p:nvSpPr>
          <p:cNvPr id="18" name="Card Average rating"/>
          <p:cNvSpPr/>
          <p:nvPr/>
        </p:nvSpPr>
        <p:spPr>
          <a:xfrm>
            <a:off x="7406640" y="1143000"/>
            <a:ext cx="128016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252728"/>
            <a:ext cx="12801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2.80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699870"/>
            <a:ext cx="12801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Average rating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Definitions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743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Completed = fare greater than $0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Average fare = revenue / completed rides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Completion rate = completed / total rides (100%)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Cancellation rate = 0% (none recorded)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Validation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743200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Rides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Power BI / pandas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$31,788.97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SQL (SQLite)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$31,788.97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Driver file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$31,788.97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Average fare ($635.78) and rating (2.80) also match across sources.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interactive dashboard</a:t>
            </a:r>
            <a:endParaRPr lang="en-US" sz="2600" dirty="0"/>
          </a:p>
        </p:txBody>
      </p:sp>
      <p:pic>
        <p:nvPicPr>
          <p:cNvPr id="3" name="Dashboard image" descr="Ride analytics dashboard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429000" cy="36369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480560" y="11430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KPI cards, demand, revenue, ratings, operations and driver views on one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Filters: vehicle type, payment method, year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Power BI pages: Executive Overview, Demand, Revenue, Customers, Drivers, Operations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Drill-through to driver and segment detail; report tooltip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Live demo: filter to Sedan, click a Visa bar, move the scenario slider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Demand: when do rides happen?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188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Saturday is the busiest day (13 of 50 rides); Monday is the lightest (4)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Weekday is derived from Request Time, not the stored column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Monthly revenue is volatile: 28 of 36 months have rides, from $96 to $3,110 (peak June 2022)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Peak-hours flag splits evenly (25 / 25), so it adds little signal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Revenue: where does it come from?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972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Bus + Sedan = 61% of revenue.  Visa + Debit Card = 54%.  Rides over $700 are 46% of rides but 66.2% of revenue.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Customer experience: ratings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188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Average rating is 2.80 out of 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46% of rides are rated 1-2 stars, worth $14,780.67 (46.5% of revenue)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Satisfaction is similar across fare levels, so low ratings are not just a cheap-ride issue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Customer ID exists: segments are groups of rides, not customers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Advanced analysis: where do low ratings concentrate?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Driver benchmark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5087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Average score 25.81; 25 of 50 drivers below 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Top: OC1811 (46.8). Bottom: UN8110 (0.0)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Revenue and rating are unrelated (correlation near zero)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Each driver has one ride, so scores are single-trip snapshots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Associations, not causes. Segments are small (Sunday = 9 rides).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Scenario analysis (estimates)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46888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Estimate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Current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$31,788.97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Fare +5%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Volume unchanged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$33,378.42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+$1,589.45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Fare +10%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Volume unchanged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$34,967.87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+$3,178.90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Fare +10%, volume -9%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Some riders leave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$31,820.76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+$31.79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Fare +10%, volume -15%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Strong price sensitivity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$29,722.69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-$2,066.28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Cancellations 5% (stress test)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Cancelled rides earn $0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$30,199.52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-$1,589.45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Break-even rule: a +5% fare pays off only if volume falls by less than 4.8% (+10%: less than 9.1%).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Revenue only, no costs or demand data. The cancellation case is hypothetical: no cancellations were recorded.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Findings and 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$31.8K revenue from 50 rides at $635.78 each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Bus and Sedan earn 61%; Visa and Debit Card 54%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46% of rides are rated 1-2 stars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Low ratings peak in high traffic, on Sundays, mornings and Sedan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Saturday is busiest; evening (18-23) earns the most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 cancellations recorded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Recommendations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4630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Investigate causes of low ratings first (needs rider feedback data)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Capture Customer ID, ride status, cancellation reason, valid distance and cost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A/B test any fare change using the break-even rule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Review driver availability on Saturdays and evenings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Hold driver incentives until drivers have several rides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Track cancellations and retention once the data exists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Limitations and future improvements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Customer ID: no segmentation or retention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cancellations; status is a fare-based proxy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Distances implausible (all over 500 miles)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 ride per driver: rankings are single trips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Small sample (50 rides); no cost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</a:rPr>
              <a:t>Future improvements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4630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Collect Customer ID, status with reason, wait time, driver supply and trip cost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 a larger dataset with many rides per driver and customer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Replace raw coordinates with area names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Rebuild the driver score with volume and completion 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 an A/B pricing 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Final product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Power BI dashboard: six analytical pages with filters, drill-through and a what-if slider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Jupyter dashboard and full analysis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Validated KPIs (Power BI, pandas, SQL)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Final report, README and organised GitHub repository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FD4F2"/>
                </a:solidFill>
              </a:rPr>
              <a:t>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de Analytics">
  <a:themeElements>
    <a:clrScheme name="Ride Analytics">
      <a:dk1>
        <a:srgbClr val="1F2937"/>
      </a:dk1>
      <a:lt1>
        <a:srgbClr val="FFFFFF"/>
      </a:lt1>
      <a:dk2>
        <a:srgbClr val="1F3864"/>
      </a:dk2>
      <a:lt2>
        <a:srgbClr val="F3F6FB"/>
      </a:lt2>
      <a:accent1>
        <a:srgbClr val="2A78D6"/>
      </a:accent1>
      <a:accent2>
        <a:srgbClr val="1BAF7A"/>
      </a:accent2>
      <a:accent3>
        <a:srgbClr val="E0902B"/>
      </a:accent3>
      <a:accent4>
        <a:srgbClr val="C0392B"/>
      </a:accent4>
      <a:accent5>
        <a:srgbClr val="6A4FB3"/>
      </a:accent5>
      <a:accent6>
        <a:srgbClr val="7F8C8D"/>
      </a:accent6>
      <a:hlink>
        <a:srgbClr val="2A78D6"/>
      </a:hlink>
      <a:folHlink>
        <a:srgbClr val="6A4FB3"/>
      </a:folHlink>
    </a:clrScheme>
    <a:fontScheme name="Ride Analyti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2026-10-11T10:28:58Z</dcterms:created>
  <dcterms:modified xsi:type="dcterms:W3CDTF">2026-10-11T10:28:58Z</dcterms:modified>
</cp:coreProperties>
</file>